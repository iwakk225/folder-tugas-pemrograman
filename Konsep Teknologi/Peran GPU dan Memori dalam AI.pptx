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Perubahan harga produk yang sama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Perubahan harga (%)</c:v>
                </c:pt>
              </c:strCache>
            </c:strRef>
          </c:tx>
          <c:spPr>
            <a:solidFill>
              <a:srgbClr val="0E9AA7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Klevv Bolt X</c:v>
                  </c:pt>
                  <c:pt idx="1">
                    <c:v>Lexar Thor</c:v>
                  </c:pt>
                  <c:pt idx="2">
                    <c:v>Team Group Elite Plus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24.9</c:v>
                </c:pt>
                <c:pt idx="1">
                  <c:v>307.6</c:v>
                </c:pt>
                <c:pt idx="2">
                  <c:v>395.5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1E4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 GPU dan Memori dalam Komputasi Kecerdasan Buatan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4688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Kajian Arsitektur dan Penyebab Lonjakan Harga RAM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6576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Aditya Rahmansyah | NRP 3226600122 | 1 TEKKOM 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Teknologi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Abstrak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membutuhkan GPU dan memori yang mampu mengolah data dalam jumlah besar secara cepat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Permintaan memori untuk AI dan pusat data mendorong produsen mengalihkan kapasitas ke memori bandwidth tinggi (HBM)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Pasokan DRAM untuk komputer biasa terganggu, harga RAM ikut terdorong naik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Metode: studi literatur dan pengamatan harga RAM di toko online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Keywords: </a:t>
            </a:r>
            <a:pPr indent="0" marL="0">
              <a:buNone/>
            </a:pPr>
            <a:r>
              <a:rPr lang="en-US" sz="140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· Kecerdasan Buatan · Memori · HBM · DRAM · Harga RAM · VRAM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  Pendahuluan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Latar belakang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5448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Pelatihan AI = perkalian matriks berulang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mempercepat lewat pemrosesan paralel, CPU menangani tugas umum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 menyimpan dan menyalurkan data serta parameter model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Permintaan AI memengaruhi industri memori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846320" y="1097280"/>
            <a:ext cx="384048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6320" y="1097280"/>
            <a:ext cx="384048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120640" y="1280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Pertanyaan kajian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120640" y="173736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Apa peran GPU dalam komputasi AI?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Mengapa AI butuh memori besar dan cepat?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Mengapa harga RAM melonjak?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II  CPU vs GPU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CPU: sedikit inti, kuat, serbaguna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1645920"/>
            <a:ext cx="1188720" cy="1097280"/>
          </a:xfrm>
          <a:prstGeom prst="roundRect">
            <a:avLst>
              <a:gd name="adj" fmla="val 666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645920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194560" y="1645920"/>
            <a:ext cx="1188720" cy="1097280"/>
          </a:xfrm>
          <a:prstGeom prst="roundRect">
            <a:avLst>
              <a:gd name="adj" fmla="val 666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94560" y="1645920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926080"/>
            <a:ext cx="1188720" cy="1097280"/>
          </a:xfrm>
          <a:prstGeom prst="roundRect">
            <a:avLst>
              <a:gd name="adj" fmla="val 666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926080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194560" y="2926080"/>
            <a:ext cx="1188720" cy="1097280"/>
          </a:xfrm>
          <a:prstGeom prst="roundRect">
            <a:avLst>
              <a:gd name="adj" fmla="val 666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194560" y="2926080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inti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297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Cocok untuk beragam tugas dan alur instruksi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10972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GPU: ribuan inti kecil, bekerja serentak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846320" y="1645920"/>
            <a:ext cx="274320" cy="274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93792" y="1645920"/>
            <a:ext cx="274320" cy="274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41264" y="1645920"/>
            <a:ext cx="274320" cy="274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88736" y="1645920"/>
            <a:ext cx="274320" cy="274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36208" y="1645920"/>
            <a:ext cx="274320" cy="274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1645920"/>
            <a:ext cx="274320" cy="274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31152" y="1645920"/>
            <a:ext cx="274320" cy="274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78624" y="1645920"/>
            <a:ext cx="274320" cy="274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26096" y="1645920"/>
            <a:ext cx="274320" cy="274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73568" y="1645920"/>
            <a:ext cx="274320" cy="274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21040" y="1645920"/>
            <a:ext cx="274320" cy="274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46320" y="1993392"/>
            <a:ext cx="274320" cy="274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193792" y="1993392"/>
            <a:ext cx="274320" cy="274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41264" y="1993392"/>
            <a:ext cx="274320" cy="274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88736" y="1993392"/>
            <a:ext cx="274320" cy="274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36208" y="1993392"/>
            <a:ext cx="274320" cy="274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83680" y="1993392"/>
            <a:ext cx="274320" cy="274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31152" y="1993392"/>
            <a:ext cx="274320" cy="274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78624" y="1993392"/>
            <a:ext cx="274320" cy="274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626096" y="1993392"/>
            <a:ext cx="274320" cy="274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973568" y="1993392"/>
            <a:ext cx="274320" cy="274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321040" y="1993392"/>
            <a:ext cx="274320" cy="274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46320" y="2340864"/>
            <a:ext cx="274320" cy="274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193792" y="2340864"/>
            <a:ext cx="274320" cy="274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541264" y="2340864"/>
            <a:ext cx="274320" cy="274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888736" y="2340864"/>
            <a:ext cx="274320" cy="274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36208" y="2340864"/>
            <a:ext cx="274320" cy="274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83680" y="2340864"/>
            <a:ext cx="274320" cy="274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931152" y="2340864"/>
            <a:ext cx="274320" cy="274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278624" y="2340864"/>
            <a:ext cx="274320" cy="274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626096" y="2340864"/>
            <a:ext cx="274320" cy="274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973568" y="2340864"/>
            <a:ext cx="274320" cy="274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321040" y="2340864"/>
            <a:ext cx="274320" cy="274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846320" y="2688336"/>
            <a:ext cx="274320" cy="274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193792" y="2688336"/>
            <a:ext cx="274320" cy="274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541264" y="2688336"/>
            <a:ext cx="274320" cy="274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888736" y="2688336"/>
            <a:ext cx="274320" cy="274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236208" y="2688336"/>
            <a:ext cx="274320" cy="274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583680" y="2688336"/>
            <a:ext cx="274320" cy="274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931152" y="2688336"/>
            <a:ext cx="274320" cy="274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278624" y="2688336"/>
            <a:ext cx="274320" cy="274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626096" y="2688336"/>
            <a:ext cx="274320" cy="274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973568" y="2688336"/>
            <a:ext cx="274320" cy="274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321040" y="2688336"/>
            <a:ext cx="274320" cy="274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846320" y="3035808"/>
            <a:ext cx="274320" cy="274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193792" y="3035808"/>
            <a:ext cx="274320" cy="274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541264" y="3035808"/>
            <a:ext cx="274320" cy="274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888736" y="3035808"/>
            <a:ext cx="274320" cy="274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236208" y="3035808"/>
            <a:ext cx="274320" cy="274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583680" y="3035808"/>
            <a:ext cx="274320" cy="274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931152" y="3035808"/>
            <a:ext cx="274320" cy="274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278624" y="3035808"/>
            <a:ext cx="274320" cy="274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626096" y="3035808"/>
            <a:ext cx="274320" cy="274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973568" y="3035808"/>
            <a:ext cx="274320" cy="274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321040" y="3035808"/>
            <a:ext cx="274320" cy="274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846320" y="3383280"/>
            <a:ext cx="274320" cy="274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193792" y="3383280"/>
            <a:ext cx="274320" cy="274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541264" y="3383280"/>
            <a:ext cx="274320" cy="274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888736" y="3383280"/>
            <a:ext cx="274320" cy="274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236208" y="3383280"/>
            <a:ext cx="274320" cy="274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583680" y="3383280"/>
            <a:ext cx="274320" cy="274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931152" y="3383280"/>
            <a:ext cx="274320" cy="274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278624" y="3383280"/>
            <a:ext cx="274320" cy="274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626096" y="3383280"/>
            <a:ext cx="274320" cy="274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973568" y="3383280"/>
            <a:ext cx="274320" cy="274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321040" y="3383280"/>
            <a:ext cx="274320" cy="274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846320" y="3730752"/>
            <a:ext cx="274320" cy="274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193792" y="3730752"/>
            <a:ext cx="274320" cy="274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541264" y="3730752"/>
            <a:ext cx="274320" cy="274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888736" y="3730752"/>
            <a:ext cx="274320" cy="274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236208" y="3730752"/>
            <a:ext cx="274320" cy="274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583680" y="3730752"/>
            <a:ext cx="274320" cy="274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931152" y="3730752"/>
            <a:ext cx="274320" cy="274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278624" y="3730752"/>
            <a:ext cx="274320" cy="274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7626096" y="3730752"/>
            <a:ext cx="274320" cy="274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973568" y="3730752"/>
            <a:ext cx="274320" cy="274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321040" y="3730752"/>
            <a:ext cx="274320" cy="274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4754880" y="42062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Cocok untuk perkalian matriks pada AI. Tidak selalu lebih unggul dari CPU untuk semua pekerjaan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II  Jenis dan Fungsi Memori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20240" cy="31089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258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/ DRAM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8308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 utama komputer. Menyimpan data sementara, hilang saat daya mati. DRAM umum dipakai sebagai RAM.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0" y="1188720"/>
            <a:ext cx="1920240" cy="31089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97480" y="13258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VRAM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178308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 milik GPU. Menyimpan data untuk pemrosesan grafis dan komputasi.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1920240" cy="31089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13258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HBM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178308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 memori ditumpuk vertikal, dikemas dekat prosesor. Bandwidth sangat tinggi untuk akselerator AI.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66560" y="1188720"/>
            <a:ext cx="1920240" cy="31089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03720" y="13258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178308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Jumlah data yang dipindah per detik (GB/s). Kapasitas = seberapa banyak data yang muat.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74920" y="3429000"/>
            <a:ext cx="914400" cy="1371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74920" y="3246120"/>
            <a:ext cx="914400" cy="1371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74920" y="3063240"/>
            <a:ext cx="914400" cy="1371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74920" y="2880360"/>
            <a:ext cx="914400" cy="1371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III  Mengapa AI Butuh Memori Besar dan Cepat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biasa: jalur sempit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554480" cy="731520"/>
          </a:xfrm>
          <a:prstGeom prst="roundRect">
            <a:avLst>
              <a:gd name="adj" fmla="val 10000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3716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011680" y="1691640"/>
            <a:ext cx="2377440" cy="91440"/>
          </a:xfrm>
          <a:prstGeom prst="rect">
            <a:avLst/>
          </a:prstGeom>
          <a:solidFill>
            <a:srgbClr val="5B6575"/>
          </a:solidFill>
          <a:ln w="12700">
            <a:solidFill>
              <a:srgbClr val="5B65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0" y="1371600"/>
            <a:ext cx="1554480" cy="731520"/>
          </a:xfrm>
          <a:prstGeom prst="roundRect">
            <a:avLst>
              <a:gd name="adj" fmla="val 10000"/>
            </a:avLst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89120" y="13716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126480" y="1554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menunggu data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286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HBM: jalur lebar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1554480" cy="731520"/>
          </a:xfrm>
          <a:prstGeom prst="roundRect">
            <a:avLst>
              <a:gd name="adj" fmla="val 10000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5603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011680" y="2697480"/>
            <a:ext cx="2377440" cy="4572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0" y="2560320"/>
            <a:ext cx="1554480" cy="731520"/>
          </a:xfrm>
          <a:prstGeom prst="roundRect">
            <a:avLst>
              <a:gd name="adj" fmla="val 10000"/>
            </a:avLst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389120" y="25603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126480" y="2743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mengalir deras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56616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66928" y="36393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3.1 8B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39319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miliar parameter × 2 byte ≈ 16 GB hanya untuk bobot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46120" y="356616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355848" y="36393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wall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3355848" y="39319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Daya hitung tumbuh jauh lebih cepat dari bandwidth DRAM (Gholami dkk., 2024)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35040" y="356616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144768" y="36393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TPU generasi 1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144768" y="39319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dari 6 beban kerja dibatasi bandwidth memori (Jouppi dkk., 2017)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III  Dari Permintaan AI ke Harga RAM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463040" cy="1005840"/>
          </a:xfrm>
          <a:prstGeom prst="roundRect">
            <a:avLst>
              <a:gd name="adj" fmla="val 7273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Permintaan AI naik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947672" y="1645920"/>
            <a:ext cx="182880" cy="274320"/>
          </a:xfrm>
          <a:prstGeom prst="rightArrow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48840" y="1280160"/>
            <a:ext cx="1463040" cy="1005840"/>
          </a:xfrm>
          <a:prstGeom prst="roundRect">
            <a:avLst>
              <a:gd name="adj" fmla="val 7273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48840" y="128016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HBM lebih menguntungkan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39312" y="1645920"/>
            <a:ext cx="182880" cy="274320"/>
          </a:xfrm>
          <a:prstGeom prst="rightArrow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0" y="1280160"/>
            <a:ext cx="1463040" cy="1005840"/>
          </a:xfrm>
          <a:prstGeom prst="roundRect">
            <a:avLst>
              <a:gd name="adj" fmla="val 7273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840480" y="128016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Kapasitas pabrik dialihkan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330952" y="1645920"/>
            <a:ext cx="182880" cy="274320"/>
          </a:xfrm>
          <a:prstGeom prst="rightArrow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32120" y="1280160"/>
            <a:ext cx="1463040" cy="1005840"/>
          </a:xfrm>
          <a:prstGeom prst="roundRect">
            <a:avLst>
              <a:gd name="adj" fmla="val 7273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32120" y="128016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Pasokan DRAM biasa ketat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022592" y="1645920"/>
            <a:ext cx="182880" cy="274320"/>
          </a:xfrm>
          <a:prstGeom prst="rightArrow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23760" y="1280160"/>
            <a:ext cx="1463040" cy="1005840"/>
          </a:xfrm>
          <a:prstGeom prst="roundRect">
            <a:avLst>
              <a:gd name="adj" fmla="val 7273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223760" y="128016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Harga RAM naik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74320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2834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TrendForce (via The Register, 2026)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32004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Proyeksi harga kontrak DRAM Q1 2026 direvisi dari 55–60% menjadi 90–95% (dibanding kuartal sebelumnya)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274320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46320" y="2834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Bisnis.com (2025)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32004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Eksekutif Team Group: harga kontrak DRAM Desember 2025 naik 80–100%, periode pembanding tidak dijelaskan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Angka di atas adalah harga kontrak industri, bukan harga ritel. Faktor lain (permintaan, kapasitas produksi) juga berperan.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IV  Hasil Pengamatan Harga RAM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97280"/>
          <a:ext cx="51206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852160" y="1280160"/>
            <a:ext cx="29260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DDR4 16 GB (2x8) 3200 MHz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Harga sekarang: 13/10/2026 (Tokopedia/Shopee)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Harga lama dan penjual berbeda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3 produk, tidak mewakili seluruh pasar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Sejalan dengan laporan tekanan harga memori, bukan bukti sebab-akibat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V  Kesimpulan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memproses banyak operasi paralel, memori menyuplai data dan parameter model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Kebutuhan AI mendorong permintaan HBM dan pengalihan kapasitas produksi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Pasokan DRAM biasa menjadi ketat dan memberi tekanan pada harga RAM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Pengamatan 3 produk DDR4: harga naik sekitar 25% sampai 395%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Harga RAM juga dipengaruhi faktor lain di industri semikonduktor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Gholami, A., dkk. (2024). AI and memory wall. arXiv:2403.14123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Hennessy, J. L., &amp; Patterson, D. A. (2019). A new golden age for computer architecture. CACM, 62(2), 48–60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Jishnu, A., &amp; Ansari, E. (2026). AI memory boom squeezes legacy DRAM supply, pushing prices higher. S&amp;P Global Market Intelligence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Jouppi, N. P., dkk. (2017). In-datacenter performance analysis of a tensor processing unit. ISCA, 1–12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Mann, T. (2026). DRAM prices expected to double in Q1... The Register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Meta. (2024). Llama 3.1 8B [Model card]. Hugging Face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Amalina. (2025). Siap-siap! Ledakan AI diprediksi picu kenaikan harga RAM tahun depan. Bisnis.com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Peran GPU dan Memori dalam Komputasi AI</dc:title>
  <dc:subject>PptxGenJS Presentation</dc:subject>
  <dc:creator>PptxGenJS</dc:creator>
  <cp:lastModifiedBy>PptxGenJS</cp:lastModifiedBy>
  <cp:revision>1</cp:revision>
  <dcterms:created xsi:type="dcterms:W3CDTF">2026-10-18T06:52:13Z</dcterms:created>
  <dcterms:modified xsi:type="dcterms:W3CDTF">2026-10-18T06:52:13Z</dcterms:modified>
</cp:coreProperties>
</file>